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제출처와 제출일을 먼저 확인시키고 시작한다. 문서번호는 구매팀 접수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묶음으로 재구성했다 — 원문 9개 절을 그대로 읽지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A. 좌측 카드 2장이 원문 1절의 문제 두 가지. 우측 패널 결론이 이 발표의 논지 전체다.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E. 원문 2절 표에 "충족 여부" 열을 더했다 — 표만 옮기면 무엇이 문제인지가 안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B. 첫 칸(SC-100)이 대표 항목이라 상단 보더만 블루. 하단 한 줄이 "왜 묶음인가"에 대한 답이다.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4절 표. 표 데이터라 네이티브 표로 넣었다. 하단 한 줄은 원문에 없지만 발표에서 반드시 짚어야 하는 리스크.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C. 우측 패널 수치 48pt는 이 슬라이드에서 하나만 쓴다. 마지막 마일스톤만 블루로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6절 표 그대로. 우측 환산값(1대당 631원)은 총액 265,000,000 / 420,000 을 발표용으로 덧붙인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F. 첫 칸만 네이비 — 세 효과가 동급이 아니라는 뜻이다. 원문 7절은 나열이지만 발표는 우선순위를 정해야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I. 실적 숫자(320만 개, 4곳)가 이 슬라이드의 근거. CC EAL4+는 질문이 나오면 상세히.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원본 템플릿의 "Safe with us" 자리. 담당자 두 명을 함께 띄워 두고 질의응답으로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82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108960"/>
            <a:ext cx="841248" cy="45720"/>
          </a:xfrm>
          <a:prstGeom prst="rect">
            <a:avLst/>
          </a:prstGeom>
          <a:solidFill>
            <a:srgbClr val="35D6E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0" y="35204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800" b="1" spc="-27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스마트미터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b="1" spc="-27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보안칩 적용 제안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0" y="6172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대한전력계량 주식회사 구매팀 · 2026. 03. 12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0" y="7086600"/>
            <a:ext cx="87965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세이프칩 · SAFECHIP Co., Ltd.   |   문서번호 SC-PRO-2026-014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423160" y="2926080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배경과 현황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423160" y="358444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보안 요구사항과 현재 방식의 한계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51560" y="4023360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224528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2423160" y="4224528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423160" y="48828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SC-100 · SafeManager · 라인 적용 컨설팅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51560" y="5321808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522976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2423160" y="5522976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절차와 일정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2423160" y="61813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21주, 2026년 10월 양산 개시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51560" y="6620256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6821424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2423160" y="6821424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비용과 기대 효과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2423160" y="7479792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초도 2억 6,500만 원, 유출 경로 1개 제거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51560" y="7918704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8119872"/>
            <a:ext cx="1097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2423160" y="8119872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2423160" y="877824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2009, 누적 320만 개 공급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51560" y="9217152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배경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2027년부터 스마트미터 전량에 기기별 고유 인증이 의무화됩니다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제안 배경과 현황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86136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방식(공장에서 열쇠 파일 생성 → 기기 메모리 주입)의 문제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3383280"/>
            <a:ext cx="3813048" cy="2386584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383280"/>
            <a:ext cx="45720" cy="2386584"/>
          </a:xfrm>
          <a:prstGeom prst="rect">
            <a:avLst/>
          </a:prstGeom>
          <a:solidFill>
            <a:srgbClr val="1E5BD6"/>
          </a:solidFill>
          <a:ln/>
        </p:spPr>
      </p:sp>
      <p:sp>
        <p:nvSpPr>
          <p:cNvPr id="11" name="Text 9"/>
          <p:cNvSpPr/>
          <p:nvPr/>
        </p:nvSpPr>
        <p:spPr>
          <a:xfrm>
            <a:off x="1353312" y="3657600"/>
            <a:ext cx="3209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01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3312" y="4114800"/>
            <a:ext cx="3209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열쇠 파일 유출 위험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3312" y="460857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열쇠 파일이 공장 서버에 그대로 남는다. 서버가 뚫리면 해당 모델 전량이 함께 노출된다.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65776" y="3383280"/>
            <a:ext cx="3813048" cy="2386584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65776" y="3383280"/>
            <a:ext cx="45720" cy="2386584"/>
          </a:xfrm>
          <a:prstGeom prst="rect">
            <a:avLst/>
          </a:prstGeom>
          <a:solidFill>
            <a:srgbClr val="1E5BD6"/>
          </a:solidFill>
          <a:ln/>
        </p:spPr>
      </p:sp>
      <p:sp>
        <p:nvSpPr>
          <p:cNvPr id="16" name="Text 14"/>
          <p:cNvSpPr/>
          <p:nvPr/>
        </p:nvSpPr>
        <p:spPr>
          <a:xfrm>
            <a:off x="5367528" y="3657600"/>
            <a:ext cx="3209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02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67528" y="4114800"/>
            <a:ext cx="3209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 이력 미기록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67528" y="460857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폐기 시 인증서를 무효화하는 절차가 기록으로 남지 않아 감사 대응이 어렵다.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6126480"/>
            <a:ext cx="8613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2025년 개정 계량기 보안 요구사항 / 연간 생산 물량 약 42만 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09176" y="2651760"/>
            <a:ext cx="7827264" cy="6281928"/>
          </a:xfrm>
          <a:prstGeom prst="rect">
            <a:avLst/>
          </a:prstGeom>
          <a:solidFill>
            <a:srgbClr val="0B2E6B"/>
          </a:solidFill>
          <a:ln/>
        </p:spPr>
      </p:sp>
      <p:sp>
        <p:nvSpPr>
          <p:cNvPr id="21" name="Text 19"/>
          <p:cNvSpPr/>
          <p:nvPr/>
        </p:nvSpPr>
        <p:spPr>
          <a:xfrm>
            <a:off x="9939528" y="4389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문제 모두 열쇠를 기기 바깥에서 만들기 때문에 생깁니다.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939528" y="5669280"/>
            <a:ext cx="6236208" cy="18288"/>
          </a:xfrm>
          <a:prstGeom prst="rect">
            <a:avLst/>
          </a:prstGeom>
          <a:solidFill>
            <a:srgbClr val="35D6E8"/>
          </a:solidFill>
          <a:ln/>
        </p:spPr>
      </p:sp>
      <p:sp>
        <p:nvSpPr>
          <p:cNvPr id="23" name="Text 21"/>
          <p:cNvSpPr/>
          <p:nvPr/>
        </p:nvSpPr>
        <p:spPr>
          <a:xfrm>
            <a:off x="9939528" y="598932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열쇠를 칩 안에서 만들면</a:t>
            </a:r>
            <a:endParaRPr lang="en-US" sz="3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문제가 함께 사라집니다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분석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항목 중 3개가 요구 수준에 미달합니다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제안 배경과 현황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16194024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4754880"/>
                <a:gridCol w="4114800"/>
                <a:gridCol w="293522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요구 수준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충족 여부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기기별 고유 인증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(모델 단위 공용 열쇠)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기기 1대당 1개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b="1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미달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열쇠 보관 위치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공장 서버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기기 내부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b="1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미달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인증서 회수 절차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수기 관리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기록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b="1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미달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생산 물량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42만 대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b="1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6949440"/>
            <a:ext cx="9144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대한전력계량 제공 현황 자료, 2026. 02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· 소프트웨어 · 라인 적용을 한 묶음으로 제공합니다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제안 내용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651760"/>
            <a:ext cx="5184648" cy="73152"/>
          </a:xfrm>
          <a:prstGeom prst="rect">
            <a:avLst/>
          </a:prstGeom>
          <a:solidFill>
            <a:srgbClr val="1E5BD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71800"/>
            <a:ext cx="5184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5184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보안칩 SC-100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5184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기기마다 다른 고유값을 칩 안에서 직접 생성합니다.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1560" y="5257800"/>
            <a:ext cx="5184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열쇠 파일을 외부에 두지 않으므로 공장 서버 유출 위험이 사라집니다.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56248" y="2651760"/>
            <a:ext cx="5184648" cy="73152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971800"/>
            <a:ext cx="5184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556248" y="3474720"/>
            <a:ext cx="5184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SafeManager 연동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56248" y="4206240"/>
            <a:ext cx="5184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발급한 인증서를 한 화면에서 조회하고 무효화합니다.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56248" y="5257800"/>
            <a:ext cx="5184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 기기의 무효화 이력은 5년간 보관됩니다.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060936" y="2651760"/>
            <a:ext cx="5184648" cy="73152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9" name="Text 17"/>
          <p:cNvSpPr/>
          <p:nvPr/>
        </p:nvSpPr>
        <p:spPr>
          <a:xfrm>
            <a:off x="12060936" y="2971800"/>
            <a:ext cx="5184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060936" y="3474720"/>
            <a:ext cx="5184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 라인 컨설팅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060936" y="4206240"/>
            <a:ext cx="5184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조립 라인에 칩 삽입 공정을 넣습니다.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60936" y="5257800"/>
            <a:ext cx="5184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회로 변경안과 시험 항목을 함께 설계합니다.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51560" y="6949440"/>
            <a:ext cx="16194024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7178040"/>
            <a:ext cx="16194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갈래를 따로 도입하면 인증서 이력이 끊깁니다. 함께 적용해야 감사 대응까지 닫힙니다.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절차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21주. 고객 준비 사항은 단계마다 미리 확정합니다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도입 절차와 일정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1619402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6035040"/>
                <a:gridCol w="503834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활동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준비 사항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사전 검토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회로도 검토, 적용 범위 확정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회로도 · 생산 공정도 제공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시제품 제작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6주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보안칩 적용 시제품 20대 제작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시제품용 자재 제공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시험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 시험, 보안 요구사항 적합성 확인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 설비 사용 협조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양산 적용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8주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라인 세팅, 초도 물량 생산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라인 정지 일정 조율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6949440"/>
            <a:ext cx="1619402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준비 사항이 늦어지면 전체 일정이 그만큼 밀립니다. 1단계 자료는 계약 후 1주 안에 필요합니다.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후 약 6개월 만에 양산에 들어갑니다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도입 절차와 일정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926080"/>
            <a:ext cx="45720" cy="4206240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3072384"/>
            <a:ext cx="210312" cy="210312"/>
          </a:xfrm>
          <a:prstGeom prst="ellipse">
            <a:avLst/>
          </a:prstGeom>
          <a:solidFill>
            <a:srgbClr val="94A0B5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2026. 04. 30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296265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69264" y="4169664"/>
            <a:ext cx="210312" cy="210312"/>
          </a:xfrm>
          <a:prstGeom prst="ellipse">
            <a:avLst/>
          </a:prstGeom>
          <a:solidFill>
            <a:srgbClr val="94A0B5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2026. 07. 10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7720" y="405993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시제품 완료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69264" y="5266944"/>
            <a:ext cx="210312" cy="210312"/>
          </a:xfrm>
          <a:prstGeom prst="ellipse">
            <a:avLst/>
          </a:prstGeom>
          <a:solidFill>
            <a:srgbClr val="94A0B5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5120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2026. 08. 14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17720" y="51572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완료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69264" y="6364224"/>
            <a:ext cx="210312" cy="210312"/>
          </a:xfrm>
          <a:prstGeom prst="ellipse">
            <a:avLst/>
          </a:prstGeom>
          <a:solidFill>
            <a:srgbClr val="1E5BD6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6217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2026. 10. 20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17720" y="62544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F4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개시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51560" y="7406640"/>
            <a:ext cx="8229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완료(8/14)와 양산 개시(10/20) 사이 9주가 라인 세팅 기간입니다.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409176" y="2651760"/>
            <a:ext cx="7827264" cy="6281928"/>
          </a:xfrm>
          <a:prstGeom prst="rect">
            <a:avLst/>
          </a:prstGeom>
          <a:solidFill>
            <a:srgbClr val="0B2E6B"/>
          </a:solidFill>
          <a:ln/>
        </p:spPr>
      </p:sp>
      <p:sp>
        <p:nvSpPr>
          <p:cNvPr id="23" name="Text 21"/>
          <p:cNvSpPr/>
          <p:nvPr/>
        </p:nvSpPr>
        <p:spPr>
          <a:xfrm>
            <a:off x="9939528" y="4096512"/>
            <a:ext cx="6766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→ 양산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939528" y="46634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6개월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9939528" y="5577840"/>
            <a:ext cx="6766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5D6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04. 30  →  2026. 10. 20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939528" y="6217920"/>
            <a:ext cx="6236208" cy="18288"/>
          </a:xfrm>
          <a:prstGeom prst="rect">
            <a:avLst/>
          </a:prstGeom>
          <a:solidFill>
            <a:srgbClr val="35D6E8"/>
          </a:solidFill>
          <a:ln/>
        </p:spPr>
      </p:sp>
      <p:sp>
        <p:nvSpPr>
          <p:cNvPr id="27" name="Text 25"/>
          <p:cNvSpPr/>
          <p:nvPr/>
        </p:nvSpPr>
        <p:spPr>
          <a:xfrm>
            <a:off x="9939528" y="64922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요구사항 시행 전에 초도 물량을 확보하려면 4월 계약이 마지노선입니다.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비용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초도 물량 기준 2억 6,500만 원입니다 (부가세 별도)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투자 비용과 기대 효과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106070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219456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수량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단가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보안칩 SC-100 (초도)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100,000개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1,850원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185,000,000원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SafeManager 라이선스 (3년)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1식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컨설팅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1식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dirty="0">
                          <a:solidFill>
                            <a:srgbClr val="3F4A5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75" b="1" dirty="0">
                          <a:solidFill>
                            <a:srgbClr val="1018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 (부가세 별도)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75" b="1" dirty="0">
                          <a:solidFill>
                            <a:srgbClr val="1018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265,000,000원</a:t>
                      </a:r>
                      <a:endParaRPr lang="en-US" sz="18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6720840"/>
            <a:ext cx="10607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2년차부터 보안칩 단가는 물량에 따라 재협의합니다.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344400" y="2651760"/>
            <a:ext cx="4892040" cy="4114800"/>
          </a:xfrm>
          <a:prstGeom prst="rect">
            <a:avLst/>
          </a:prstGeom>
          <a:solidFill>
            <a:srgbClr val="0B2E6B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0" y="347472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초도 도입 총액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2801600" y="40233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2.65억 원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2801600" y="498348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5D6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1대당 약 631원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801600" y="55321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42만 대 기준으로 환산한 값입니다.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유출 경로 하나를 없애고, 감사 대응 시간을 3일에서 반나절로 줄입니다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투자 비용과 기대 효과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651760"/>
            <a:ext cx="5184648" cy="4206240"/>
          </a:xfrm>
          <a:prstGeom prst="rect">
            <a:avLst/>
          </a:prstGeom>
          <a:solidFill>
            <a:srgbClr val="0B2E6B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3063240"/>
            <a:ext cx="4453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5D6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효과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17320" y="3611880"/>
            <a:ext cx="44531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유출 경로 1개 제거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4892040"/>
            <a:ext cx="4453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열쇠 파일 외부 보관이 사라져 공장 서버를 통한 유출 경로가 없어집니다.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56248" y="2651760"/>
            <a:ext cx="5184648" cy="4206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3063240"/>
            <a:ext cx="4453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922008" y="3611880"/>
            <a:ext cx="44531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대응 3일 → 반나절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22008" y="4892040"/>
            <a:ext cx="4453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인증서 회수 이력이 자동 기록되어 자료를 모으는 시간이 줄어듭니다.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60936" y="2651760"/>
            <a:ext cx="5184648" cy="4206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12426696" y="3063240"/>
            <a:ext cx="4453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26696" y="3611880"/>
            <a:ext cx="44531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요구사항 충족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26696" y="4892040"/>
            <a:ext cx="4453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기기별 고유 인증 의무화 조항을 양산 시점에 맞춰 충족합니다.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75895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spc="-78" kern="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51560" y="1481328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5A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2009년 설립, 스마트미터 제조사 4곳에 누적 320만 개를 공급했습니다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888968" y="758952"/>
            <a:ext cx="429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6194024" cy="36576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345168"/>
            <a:ext cx="7315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회사 소개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89552" y="934516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94760" y="29718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2009년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51560" y="3630168"/>
            <a:ext cx="8229600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233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영역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94760" y="40233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반도체 설계 · 공급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51560" y="4681728"/>
            <a:ext cx="8229600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749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 실적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94760" y="507492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스마트미터 제조사 4곳, 누적 320만 개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51560" y="5733288"/>
            <a:ext cx="8229600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61264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B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인증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794760" y="61264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1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 EAL4+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51560" y="6784848"/>
            <a:ext cx="8229600" cy="9144"/>
          </a:xfrm>
          <a:prstGeom prst="rect">
            <a:avLst/>
          </a:prstGeom>
          <a:solidFill>
            <a:srgbClr val="DCE4F1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9176" y="2651760"/>
            <a:ext cx="7827264" cy="6281928"/>
          </a:xfrm>
          <a:prstGeom prst="rect">
            <a:avLst/>
          </a:prstGeom>
          <a:solidFill>
            <a:srgbClr val="0B2E6B"/>
          </a:solidFill>
          <a:ln/>
        </p:spPr>
      </p:sp>
      <p:sp>
        <p:nvSpPr>
          <p:cNvPr id="21" name="Text 19"/>
          <p:cNvSpPr/>
          <p:nvPr/>
        </p:nvSpPr>
        <p:spPr>
          <a:xfrm>
            <a:off x="9939528" y="4389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스마트미터 라인에 보안칩을 넣어 본 회사가 국내에 많지 않습니다.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939528" y="5669280"/>
            <a:ext cx="6236208" cy="18288"/>
          </a:xfrm>
          <a:prstGeom prst="rect">
            <a:avLst/>
          </a:prstGeom>
          <a:solidFill>
            <a:srgbClr val="35D6E8"/>
          </a:solidFill>
          <a:ln/>
        </p:spPr>
      </p:sp>
      <p:sp>
        <p:nvSpPr>
          <p:cNvPr id="23" name="Text 21"/>
          <p:cNvSpPr/>
          <p:nvPr/>
        </p:nvSpPr>
        <p:spPr>
          <a:xfrm>
            <a:off x="9939528" y="598932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공정을 4곳에서</a:t>
            </a:r>
            <a:endParaRPr lang="en-US" sz="3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통과했습니다</a:t>
            </a:r>
            <a:endParaRPr lang="en-US" sz="3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82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931920"/>
            <a:ext cx="18288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spc="-19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Secure by design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8567928" y="5349240"/>
            <a:ext cx="1143000" cy="36576"/>
          </a:xfrm>
          <a:prstGeom prst="rect">
            <a:avLst/>
          </a:prstGeom>
          <a:solidFill>
            <a:srgbClr val="35D6E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5806440"/>
            <a:ext cx="18288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담당  김민준 과장   010-0000-0000   minjun.kim@safechip.example.com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0" y="6355080"/>
            <a:ext cx="18288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C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담당  이서연 책임   seoyeon.lee@safechip.example.com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0" y="7315200"/>
            <a:ext cx="18288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0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세이프칩   |   문서번호 SC-PRO-2026-014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스마트미터 보안칩 적용 제안</dc:title>
  <dc:subject>PptxGenJS Presentation</dc:subject>
  <dc:creator>DataPopcorn</dc:creator>
  <cp:lastModifiedBy>DataPopcorn</cp:lastModifiedBy>
  <cp:revision>1</cp:revision>
  <dcterms:created xsi:type="dcterms:W3CDTF">2026-07-27T17:57:09Z</dcterms:created>
  <dcterms:modified xsi:type="dcterms:W3CDTF">2026-07-27T17:57:09Z</dcterms:modified>
</cp:coreProperties>
</file>