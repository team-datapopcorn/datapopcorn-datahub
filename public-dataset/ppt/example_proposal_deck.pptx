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제출처와 제출일을 먼저 확인시키고 시작한다. 문서번호는 구매팀 접수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원문 9개 절을 5개 챕터로 묶었다 — 절 목록을 그대로 읽으면 발표가 안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01 표지. 좌측 패널은 원본 템플릿의 이미지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레이아웃 A. 좌측 카드 2장이 원문 1절의 문제 두 가지. 우측 패널 결론이 이 발표의 논지 전체다.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레이아웃 E. 원문 2절 표에 "충족 여부" 열을 더했다 — 표만 옮기면 무엇이 문제인지가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02 표지. 좌측 패널은 원본 템플릿의 이미지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레이아웃 B. 첫 칸(SC-100)이 대표 항목이라 상단 보더만 블루. 하단 한 줄이 "왜 묶음인가"에 대한 답이다.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03 표지. 좌측 패널은 원본 템플릿의 이미지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4절 표. 표 데이터라 네이티브 표로 넣었다. 하단 한 줄은 원문에 없지만 발표에서 반드시 짚어야 하는 리스크.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레이아웃 C. 우측 패널 수치 48pt는 이 슬라이드에서 하나만 쓴다. 마지막 마일스톤만 블루로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04 표지. 좌측 패널은 원본 템플릿의 이미지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6절 표 그대로. 우측 환산값(1대당 631원)은 총액 265,000,000 / 420,000 을 발표용으로 덧붙인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레이아웃 F. 첫 칸만 네이비 — 세 효과가 동급이 아니라는 뜻이다. 원문 7절은 나열이지만 발표는 우선순위를 정해야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05 표지. 좌측 패널은 원본 템플릿의 이미지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레이아웃 I. 실적 숫자(320만 개, 4곳)가 이 슬라이드의 근거. CC EAL4+는 질문이 나오면 상세히.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레이아웃 J. 이 발표에서 상대가 가져가야 할 문장 하나. 여기서 질문을 받고 클로징으로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클로징. 원본 템플릿의 "Safe with us" 자리. 담당자 두 명을 함께 띄워 두고 질의응답으로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3108960"/>
            <a:ext cx="841248" cy="45720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352044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b="1" spc="-273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스마트미터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b="1" spc="-273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보안칩 적용 제안</a:t>
            </a:r>
            <a:endParaRPr lang="en-US" sz="7800" dirty="0"/>
          </a:p>
        </p:txBody>
      </p:sp>
      <p:sp>
        <p:nvSpPr>
          <p:cNvPr id="5" name="Text 2"/>
          <p:cNvSpPr/>
          <p:nvPr/>
        </p:nvSpPr>
        <p:spPr>
          <a:xfrm>
            <a:off x="9144000" y="6172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대한전력계량 주식회사 구매팀 · 2026. 03. 12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0" y="7086600"/>
            <a:ext cx="87965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세이프칩 · SAFECHIP Co., Ltd.   |   문서번호 SC-PRO-2026-014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6184880" y="9098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16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SAFECHIP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914400"/>
            <a:ext cx="10972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Contents</a:t>
            </a:r>
            <a:endParaRPr lang="en-US" sz="4800" dirty="0"/>
          </a:p>
        </p:txBody>
      </p:sp>
      <p:sp>
        <p:nvSpPr>
          <p:cNvPr id="4" name="Shape 1"/>
          <p:cNvSpPr/>
          <p:nvPr/>
        </p:nvSpPr>
        <p:spPr>
          <a:xfrm>
            <a:off x="1051560" y="1911096"/>
            <a:ext cx="841248" cy="45720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5" name="Shape 2"/>
          <p:cNvSpPr/>
          <p:nvPr/>
        </p:nvSpPr>
        <p:spPr>
          <a:xfrm>
            <a:off x="1051560" y="2606040"/>
            <a:ext cx="16194024" cy="1179576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051560" y="2606040"/>
            <a:ext cx="45720" cy="1179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7" name="Text 4"/>
          <p:cNvSpPr/>
          <p:nvPr/>
        </p:nvSpPr>
        <p:spPr>
          <a:xfrm>
            <a:off x="1517904" y="2944368"/>
            <a:ext cx="74066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5D6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2596896" y="2889504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6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배경과 현황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9326880" y="2990088"/>
            <a:ext cx="77724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2027년 보안 요구사항과 현재 방식의 한계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1051560" y="3922776"/>
            <a:ext cx="16194024" cy="1179576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1051560" y="3922776"/>
            <a:ext cx="45720" cy="1179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12" name="Text 9"/>
          <p:cNvSpPr/>
          <p:nvPr/>
        </p:nvSpPr>
        <p:spPr>
          <a:xfrm>
            <a:off x="1517904" y="4261104"/>
            <a:ext cx="74066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5D6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2596896" y="42062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6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내용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9326880" y="4306824"/>
            <a:ext cx="77724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SC-100 · SafeManager · 라인 적용 컨설팅</a:t>
            </a:r>
            <a:endParaRPr lang="en-US" sz="2250" dirty="0"/>
          </a:p>
        </p:txBody>
      </p:sp>
      <p:sp>
        <p:nvSpPr>
          <p:cNvPr id="15" name="Shape 12"/>
          <p:cNvSpPr/>
          <p:nvPr/>
        </p:nvSpPr>
        <p:spPr>
          <a:xfrm>
            <a:off x="1051560" y="5239512"/>
            <a:ext cx="16194024" cy="1179576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051560" y="5239512"/>
            <a:ext cx="45720" cy="1179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17" name="Text 14"/>
          <p:cNvSpPr/>
          <p:nvPr/>
        </p:nvSpPr>
        <p:spPr>
          <a:xfrm>
            <a:off x="1517904" y="5577840"/>
            <a:ext cx="74066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5D6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5"/>
          <p:cNvSpPr/>
          <p:nvPr/>
        </p:nvSpPr>
        <p:spPr>
          <a:xfrm>
            <a:off x="2596896" y="5522976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6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절차와 일정</a:t>
            </a:r>
            <a:endParaRPr lang="en-US" sz="3300" dirty="0"/>
          </a:p>
        </p:txBody>
      </p:sp>
      <p:sp>
        <p:nvSpPr>
          <p:cNvPr id="19" name="Text 16"/>
          <p:cNvSpPr/>
          <p:nvPr/>
        </p:nvSpPr>
        <p:spPr>
          <a:xfrm>
            <a:off x="9326880" y="5623560"/>
            <a:ext cx="77724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21주, 2026년 10월 양산 개시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1051560" y="6556248"/>
            <a:ext cx="16194024" cy="1179576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051560" y="6556248"/>
            <a:ext cx="45720" cy="1179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22" name="Text 19"/>
          <p:cNvSpPr/>
          <p:nvPr/>
        </p:nvSpPr>
        <p:spPr>
          <a:xfrm>
            <a:off x="1517904" y="6894576"/>
            <a:ext cx="74066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5D6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2596896" y="6839712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6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비용과 기대 효과</a:t>
            </a:r>
            <a:endParaRPr lang="en-US" sz="3300" dirty="0"/>
          </a:p>
        </p:txBody>
      </p:sp>
      <p:sp>
        <p:nvSpPr>
          <p:cNvPr id="24" name="Text 21"/>
          <p:cNvSpPr/>
          <p:nvPr/>
        </p:nvSpPr>
        <p:spPr>
          <a:xfrm>
            <a:off x="9326880" y="6940296"/>
            <a:ext cx="77724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초도 2억 6,500만 원, 유출 경로 1개 제거</a:t>
            </a:r>
            <a:endParaRPr lang="en-US" sz="2250" dirty="0"/>
          </a:p>
        </p:txBody>
      </p:sp>
      <p:sp>
        <p:nvSpPr>
          <p:cNvPr id="25" name="Shape 22"/>
          <p:cNvSpPr/>
          <p:nvPr/>
        </p:nvSpPr>
        <p:spPr>
          <a:xfrm>
            <a:off x="1051560" y="7872984"/>
            <a:ext cx="16194024" cy="1179576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051560" y="7872984"/>
            <a:ext cx="45720" cy="1179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27" name="Text 24"/>
          <p:cNvSpPr/>
          <p:nvPr/>
        </p:nvSpPr>
        <p:spPr>
          <a:xfrm>
            <a:off x="1517904" y="8211312"/>
            <a:ext cx="74066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5D6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700" dirty="0"/>
          </a:p>
        </p:txBody>
      </p:sp>
      <p:sp>
        <p:nvSpPr>
          <p:cNvPr id="28" name="Text 25"/>
          <p:cNvSpPr/>
          <p:nvPr/>
        </p:nvSpPr>
        <p:spPr>
          <a:xfrm>
            <a:off x="2596896" y="8156448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spc="-6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소개</a:t>
            </a:r>
            <a:endParaRPr lang="en-US" sz="3300" dirty="0"/>
          </a:p>
        </p:txBody>
      </p:sp>
      <p:sp>
        <p:nvSpPr>
          <p:cNvPr id="29" name="Text 26"/>
          <p:cNvSpPr/>
          <p:nvPr/>
        </p:nvSpPr>
        <p:spPr>
          <a:xfrm>
            <a:off x="9326880" y="8257032"/>
            <a:ext cx="77724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설립 2009, 누적 320만 개 공급</a:t>
            </a:r>
            <a:endParaRPr lang="en-US" sz="2250" dirty="0"/>
          </a:p>
        </p:txBody>
      </p:sp>
      <p:sp>
        <p:nvSpPr>
          <p:cNvPr id="30" name="Text 27"/>
          <p:cNvSpPr/>
          <p:nvPr/>
        </p:nvSpPr>
        <p:spPr>
          <a:xfrm>
            <a:off x="16184880" y="9098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16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SAFECHIP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41248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64040" y="3017520"/>
            <a:ext cx="855878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spc="120" kern="0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01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9464040" y="3639312"/>
            <a:ext cx="855878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0B2E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배경과 현황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9464040" y="4700016"/>
            <a:ext cx="841248" cy="36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6" name="Text 3"/>
          <p:cNvSpPr/>
          <p:nvPr/>
        </p:nvSpPr>
        <p:spPr>
          <a:xfrm>
            <a:off x="9464040" y="5157216"/>
            <a:ext cx="8046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개정 보안 요구사항과 의무화 시점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현재 열쇠 관리 방식의 문제 두 가지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요구 수준 대비 현황 점검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배경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051560" y="1481328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2027년부터 스마트미터 전량에 기기별 고유 인증이 의무화됩니다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제안 배경과 현황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2651760"/>
            <a:ext cx="8613648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방식(공장에서 열쇠 파일 생성 → 기기 메모리 주입)의 문제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51560" y="3383280"/>
            <a:ext cx="3813048" cy="2386584"/>
          </a:xfrm>
          <a:prstGeom prst="rect">
            <a:avLst/>
          </a:prstGeom>
          <a:solidFill>
            <a:srgbClr val="F3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560" y="3383280"/>
            <a:ext cx="45720" cy="2386584"/>
          </a:xfrm>
          <a:prstGeom prst="rect">
            <a:avLst/>
          </a:prstGeom>
          <a:solidFill>
            <a:srgbClr val="1E5BD6"/>
          </a:solidFill>
          <a:ln/>
        </p:spPr>
      </p:sp>
      <p:sp>
        <p:nvSpPr>
          <p:cNvPr id="11" name="Text 9"/>
          <p:cNvSpPr/>
          <p:nvPr/>
        </p:nvSpPr>
        <p:spPr>
          <a:xfrm>
            <a:off x="1353312" y="3657600"/>
            <a:ext cx="3209544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01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53312" y="4114800"/>
            <a:ext cx="32095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열쇠 파일 유출 위험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53312" y="4608576"/>
            <a:ext cx="320954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열쇠 파일이 공장 서버에 그대로 남는다. 서버가 뚫리면 해당 모델 전량이 함께 노출된다.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65776" y="3383280"/>
            <a:ext cx="3813048" cy="2386584"/>
          </a:xfrm>
          <a:prstGeom prst="rect">
            <a:avLst/>
          </a:prstGeom>
          <a:solidFill>
            <a:srgbClr val="F3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5065776" y="3383280"/>
            <a:ext cx="45720" cy="2386584"/>
          </a:xfrm>
          <a:prstGeom prst="rect">
            <a:avLst/>
          </a:prstGeom>
          <a:solidFill>
            <a:srgbClr val="1E5BD6"/>
          </a:solidFill>
          <a:ln/>
        </p:spPr>
      </p:sp>
      <p:sp>
        <p:nvSpPr>
          <p:cNvPr id="16" name="Text 14"/>
          <p:cNvSpPr/>
          <p:nvPr/>
        </p:nvSpPr>
        <p:spPr>
          <a:xfrm>
            <a:off x="5367528" y="3657600"/>
            <a:ext cx="3209544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02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367528" y="4114800"/>
            <a:ext cx="32095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폐기 이력 미기록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367528" y="4608576"/>
            <a:ext cx="320954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폐기 시 인증서를 무효화하는 절차가 기록으로 남지 않아 감사 대응이 어렵다.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6126480"/>
            <a:ext cx="8613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· 2025년 개정 계량기 보안 요구사항 / 연간 생산 물량 약 42만 대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09176" y="2651760"/>
            <a:ext cx="7827264" cy="6281928"/>
          </a:xfrm>
          <a:prstGeom prst="rect">
            <a:avLst/>
          </a:prstGeom>
          <a:solidFill>
            <a:srgbClr val="0B2E6B"/>
          </a:solidFill>
          <a:ln/>
        </p:spPr>
      </p:sp>
      <p:sp>
        <p:nvSpPr>
          <p:cNvPr id="21" name="Text 19"/>
          <p:cNvSpPr/>
          <p:nvPr/>
        </p:nvSpPr>
        <p:spPr>
          <a:xfrm>
            <a:off x="9939528" y="438912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5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문제 모두 열쇠를 기기 바깥에서 만들기 때문에 생깁니다.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939528" y="5669280"/>
            <a:ext cx="6236208" cy="18288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23" name="Text 21"/>
          <p:cNvSpPr/>
          <p:nvPr/>
        </p:nvSpPr>
        <p:spPr>
          <a:xfrm>
            <a:off x="9939528" y="5989320"/>
            <a:ext cx="6766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450" b="1" spc="-69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열쇠를 칩 안에서 만들면</a:t>
            </a:r>
            <a:endParaRPr lang="en-US" sz="3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450" b="1" spc="-69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문제가 함께 사라집니다</a:t>
            </a:r>
            <a:endParaRPr lang="en-US" sz="3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분석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051560" y="1481328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항목 중 3개가 요구 수준에 미달합니다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제안 배경과 현황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1560" y="2651760"/>
          <a:ext cx="16194024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4754880"/>
                <a:gridCol w="4114800"/>
                <a:gridCol w="2935224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요구 수준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충족 여부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BD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기기별 고유 인증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 (모델 단위 공용 열쇠)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기기 1대당 1개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b="1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미달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열쇠 보관 위치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공장 서버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기기 내부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b="1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미달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인증서 회수 절차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수기 관리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기록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b="1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미달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생산 물량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42만 대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동일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b="1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없음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51560" y="6949440"/>
            <a:ext cx="9144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· 대한전력계량 제공 현황 자료, 2026. 02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41248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64040" y="3017520"/>
            <a:ext cx="855878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spc="120" kern="0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02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9464040" y="3639312"/>
            <a:ext cx="855878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0B2E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내용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9464040" y="4700016"/>
            <a:ext cx="841248" cy="36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6" name="Text 3"/>
          <p:cNvSpPr/>
          <p:nvPr/>
        </p:nvSpPr>
        <p:spPr>
          <a:xfrm>
            <a:off x="9464040" y="5157216"/>
            <a:ext cx="8046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보안칩 SC-100 적용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인증 관리 소프트웨어 SafeManager 연동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생산 라인 적용 컨설팅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내용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051560" y="1481328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칩 · 소프트웨어 · 라인 적용을 한 묶음으로 제공합니다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제안 내용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51560" y="2651760"/>
            <a:ext cx="5184648" cy="73152"/>
          </a:xfrm>
          <a:prstGeom prst="rect">
            <a:avLst/>
          </a:prstGeom>
          <a:solidFill>
            <a:srgbClr val="1E5BD6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971800"/>
            <a:ext cx="518464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3-1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051560" y="3474720"/>
            <a:ext cx="5184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보안칩 SC-100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51560" y="4206240"/>
            <a:ext cx="51846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기기마다 다른 고유값을 칩 안에서 직접 생성합니다.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51560" y="5257800"/>
            <a:ext cx="518464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열쇠 파일을 외부에 두지 않으므로 공장 서버 유출 위험이 사라집니다.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556248" y="2651760"/>
            <a:ext cx="5184648" cy="73152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48" y="2971800"/>
            <a:ext cx="518464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3-2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556248" y="3474720"/>
            <a:ext cx="5184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SafeManager 연동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56248" y="4206240"/>
            <a:ext cx="51846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발급한 인증서를 한 화면에서 조회하고 무효화합니다.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556248" y="5257800"/>
            <a:ext cx="518464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폐기 기기의 무효화 이력은 5년간 보관됩니다.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2060936" y="2651760"/>
            <a:ext cx="5184648" cy="73152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19" name="Text 17"/>
          <p:cNvSpPr/>
          <p:nvPr/>
        </p:nvSpPr>
        <p:spPr>
          <a:xfrm>
            <a:off x="12060936" y="2971800"/>
            <a:ext cx="518464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3-3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2060936" y="3474720"/>
            <a:ext cx="5184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 라인 컨설팅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060936" y="4206240"/>
            <a:ext cx="51846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조립 라인에 칩 삽입 공정을 넣습니다.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060936" y="5257800"/>
            <a:ext cx="518464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회로 변경안과 시험 항목을 함께 설계합니다.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051560" y="6949440"/>
            <a:ext cx="16194024" cy="9144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7178040"/>
            <a:ext cx="16194024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갈래를 따로 도입하면 인증서 이력이 끊깁니다. 함께 적용해야 감사 대응까지 닫힙니다.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41248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64040" y="3017520"/>
            <a:ext cx="855878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spc="120" kern="0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03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9464040" y="3639312"/>
            <a:ext cx="855878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0B2E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절차와 일정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9464040" y="4700016"/>
            <a:ext cx="841248" cy="36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6" name="Text 3"/>
          <p:cNvSpPr/>
          <p:nvPr/>
        </p:nvSpPr>
        <p:spPr>
          <a:xfrm>
            <a:off x="9464040" y="5157216"/>
            <a:ext cx="8046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사전 검토부터 양산 적용까지 4단계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고객 준비 사항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주요 일정과 마일스톤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절차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051560" y="1481328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21주. 고객 준비 사항은 단계마다 미리 확정합니다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도입 절차와 일정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1560" y="2651760"/>
          <a:ext cx="16194024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  <a:gridCol w="6035040"/>
                <a:gridCol w="5038344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활동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고객 준비 사항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사전 검토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3주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회로도 검토, 적용 범위 확정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회로도 · 생산 공정도 제공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 시제품 제작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6주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보안칩 적용 시제품 20대 제작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시제품용 자재 제공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 시험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 시험, 보안 요구사항 적합성 확인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시험 설비 사용 협조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 양산 적용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8주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라인 세팅, 초도 물량 생산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라인 정지 일정 조율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51560" y="6949440"/>
            <a:ext cx="16194024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준비 사항이 늦어지면 전체 일정이 그만큼 밀립니다. 1단계 자료는 계약 후 1주 안에 필요합니다.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051560" y="1481328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체결 후 약 6개월 만에 양산에 들어갑니다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도입 절차와 일정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51560" y="2926080"/>
            <a:ext cx="45720" cy="4206240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9" name="Shape 7"/>
          <p:cNvSpPr/>
          <p:nvPr/>
        </p:nvSpPr>
        <p:spPr>
          <a:xfrm>
            <a:off x="969264" y="3072384"/>
            <a:ext cx="210312" cy="210312"/>
          </a:xfrm>
          <a:prstGeom prst="ellipse">
            <a:avLst/>
          </a:prstGeom>
          <a:solidFill>
            <a:srgbClr val="94A0B5"/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2926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2026. 04. 30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617720" y="2962656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체결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69264" y="4169664"/>
            <a:ext cx="210312" cy="210312"/>
          </a:xfrm>
          <a:prstGeom prst="ellipse">
            <a:avLst/>
          </a:prstGeom>
          <a:solidFill>
            <a:srgbClr val="94A0B5"/>
          </a:solidFill>
          <a:ln/>
        </p:spPr>
      </p:sp>
      <p:sp>
        <p:nvSpPr>
          <p:cNvPr id="13" name="Text 11"/>
          <p:cNvSpPr/>
          <p:nvPr/>
        </p:nvSpPr>
        <p:spPr>
          <a:xfrm>
            <a:off x="150876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2026. 07. 10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617720" y="4059936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시제품 완료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69264" y="5266944"/>
            <a:ext cx="210312" cy="210312"/>
          </a:xfrm>
          <a:prstGeom prst="ellipse">
            <a:avLst/>
          </a:prstGeom>
          <a:solidFill>
            <a:srgbClr val="94A0B5"/>
          </a:solidFill>
          <a:ln/>
        </p:spPr>
      </p:sp>
      <p:sp>
        <p:nvSpPr>
          <p:cNvPr id="16" name="Text 14"/>
          <p:cNvSpPr/>
          <p:nvPr/>
        </p:nvSpPr>
        <p:spPr>
          <a:xfrm>
            <a:off x="1508760" y="5120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617720" y="5157216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 완료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9264" y="6364224"/>
            <a:ext cx="210312" cy="210312"/>
          </a:xfrm>
          <a:prstGeom prst="ellipse">
            <a:avLst/>
          </a:prstGeom>
          <a:solidFill>
            <a:srgbClr val="1E5BD6"/>
          </a:solidFill>
          <a:ln/>
        </p:spPr>
      </p:sp>
      <p:sp>
        <p:nvSpPr>
          <p:cNvPr id="19" name="Text 17"/>
          <p:cNvSpPr/>
          <p:nvPr/>
        </p:nvSpPr>
        <p:spPr>
          <a:xfrm>
            <a:off x="1508760" y="62179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2026. 10. 20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617720" y="6254496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양산 개시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51560" y="7406640"/>
            <a:ext cx="82296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 완료(8/14)와 양산 개시(10/20) 사이 9주가 라인 세팅 기간입니다.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409176" y="2651760"/>
            <a:ext cx="7827264" cy="6281928"/>
          </a:xfrm>
          <a:prstGeom prst="rect">
            <a:avLst/>
          </a:prstGeom>
          <a:solidFill>
            <a:srgbClr val="0B2E6B"/>
          </a:solidFill>
          <a:ln/>
        </p:spPr>
      </p:sp>
      <p:sp>
        <p:nvSpPr>
          <p:cNvPr id="23" name="Text 21"/>
          <p:cNvSpPr/>
          <p:nvPr/>
        </p:nvSpPr>
        <p:spPr>
          <a:xfrm>
            <a:off x="9939528" y="4096512"/>
            <a:ext cx="6766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→ 양산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939528" y="466344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6개월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9939528" y="5577840"/>
            <a:ext cx="6766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5D6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04. 30  →  2026. 10. 20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939528" y="6217920"/>
            <a:ext cx="6236208" cy="18288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27" name="Text 25"/>
          <p:cNvSpPr/>
          <p:nvPr/>
        </p:nvSpPr>
        <p:spPr>
          <a:xfrm>
            <a:off x="9939528" y="649224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2027년 요구사항 시행 전에 초도 물량을 확보하려면 4월 계약이 마지노선입니다.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41248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64040" y="3017520"/>
            <a:ext cx="855878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spc="120" kern="0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04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9464040" y="3639312"/>
            <a:ext cx="855878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0B2E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비용과 기대 효과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9464040" y="4700016"/>
            <a:ext cx="841248" cy="36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6" name="Text 3"/>
          <p:cNvSpPr/>
          <p:nvPr/>
        </p:nvSpPr>
        <p:spPr>
          <a:xfrm>
            <a:off x="9464040" y="5157216"/>
            <a:ext cx="8046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항목별 비용과 총액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기기 1대당 환산 비용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도입으로 얻는 효과 세 가지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비용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051560" y="1481328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초도 물량 기준 2억 6,500만 원입니다 (부가세 별도)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투자 비용과 기대 효과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1560" y="2651760"/>
          <a:ext cx="106070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828800"/>
                <a:gridCol w="2194560"/>
                <a:gridCol w="27432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수량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단가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금액</a:t>
                      </a:r>
                      <a:endParaRPr lang="en-US" sz="1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6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보안칩 SC-100 (초도)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100,000개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1,850원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185,000,000원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SafeManager 라이선스 (3년)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1식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48,000,000원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48,000,000원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컨설팅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1식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32,000,000원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dirty="0">
                          <a:solidFill>
                            <a:srgbClr val="3F4A5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32,000,000원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75" b="1" dirty="0">
                          <a:solidFill>
                            <a:srgbClr val="1018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(부가세 별도)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75" b="1" dirty="0">
                          <a:solidFill>
                            <a:srgbClr val="1018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265,000,000원</a:t>
                      </a:r>
                      <a:endParaRPr lang="en-US" sz="1875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52400" marR="152400" marT="76200" marB="76200" anchor="ctr">
                    <a:lnL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1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51560" y="6720840"/>
            <a:ext cx="106070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2년차부터 보안칩 단가는 물량에 따라 재협의합니다.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2344400" y="2651760"/>
            <a:ext cx="4892040" cy="4114800"/>
          </a:xfrm>
          <a:prstGeom prst="rect">
            <a:avLst/>
          </a:prstGeom>
          <a:solidFill>
            <a:srgbClr val="0B2E6B"/>
          </a:solidFill>
          <a:ln/>
        </p:spPr>
      </p:sp>
      <p:sp>
        <p:nvSpPr>
          <p:cNvPr id="11" name="Text 8"/>
          <p:cNvSpPr/>
          <p:nvPr/>
        </p:nvSpPr>
        <p:spPr>
          <a:xfrm>
            <a:off x="12801600" y="3474720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초도 도입 총액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2801600" y="4023360"/>
            <a:ext cx="3977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2.65억 원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12801600" y="4983480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5D6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1대당 약 631원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12801600" y="553212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42만 대 기준으로 환산한 값입니다.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051560" y="1481328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유출 경로 하나를 없애고, 감사 대응 시간을 3일에서 반나절로 줄입니다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투자 비용과 기대 효과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51560" y="2651760"/>
            <a:ext cx="5184648" cy="4206240"/>
          </a:xfrm>
          <a:prstGeom prst="rect">
            <a:avLst/>
          </a:prstGeom>
          <a:solidFill>
            <a:srgbClr val="0B2E6B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063240"/>
            <a:ext cx="44531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5D6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효과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417320" y="3611880"/>
            <a:ext cx="4453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유출 경로 1개 제거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" y="4892040"/>
            <a:ext cx="44531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열쇠 파일 외부 보관이 사라져 공장 서버를 통한 유출 경로가 없어집니다.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556248" y="2651760"/>
            <a:ext cx="5184648" cy="4206240"/>
          </a:xfrm>
          <a:prstGeom prst="rect">
            <a:avLst/>
          </a:prstGeom>
          <a:solidFill>
            <a:srgbClr val="F3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6922008" y="3063240"/>
            <a:ext cx="44531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02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922008" y="3611880"/>
            <a:ext cx="4453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 대응 3일 → 반나절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22008" y="4892040"/>
            <a:ext cx="44531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인증서 회수 이력이 자동 기록되어 자료를 모으는 시간이 줄어듭니다.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060936" y="2651760"/>
            <a:ext cx="5184648" cy="4206240"/>
          </a:xfrm>
          <a:prstGeom prst="rect">
            <a:avLst/>
          </a:prstGeom>
          <a:solidFill>
            <a:srgbClr val="F3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12426696" y="3063240"/>
            <a:ext cx="44531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03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26696" y="3611880"/>
            <a:ext cx="4453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2027년 요구사항 충족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426696" y="4892040"/>
            <a:ext cx="44531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기기별 고유 인증 의무화 조항을 양산 시점에 맞춰 충족합니다.</a:t>
            </a:r>
            <a:endParaRPr lang="en-US" sz="1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41248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64040" y="3017520"/>
            <a:ext cx="855878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spc="120" kern="0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 05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9464040" y="3639312"/>
            <a:ext cx="8558784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0B2E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소개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9464040" y="4700016"/>
            <a:ext cx="841248" cy="36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6" name="Text 3"/>
          <p:cNvSpPr/>
          <p:nvPr/>
        </p:nvSpPr>
        <p:spPr>
          <a:xfrm>
            <a:off x="9464040" y="5157216"/>
            <a:ext cx="8046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회사 개요와 공급 실적</a:t>
            </a:r>
            <a:endParaRPr lang="en-US" sz="21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2100" dirty="0">
                <a:solidFill>
                  <a:srgbClr val="3F4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보유 인증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소개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1051560" y="1481328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dirty="0">
                <a:solidFill>
                  <a:srgbClr val="5A64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2009년 설립, 스마트미터 제조사 4곳에 누적 320만 개를 공급했습니다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회사 소개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297180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설립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794760" y="2971800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2009년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51560" y="3630168"/>
            <a:ext cx="8229600" cy="9144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02336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 영역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794760" y="4023360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반도체 설계 · 공급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51560" y="4681728"/>
            <a:ext cx="8229600" cy="9144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507492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 실적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794760" y="5074920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스마트미터 제조사 4곳, 누적 320만 개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51560" y="5733288"/>
            <a:ext cx="8229600" cy="9144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612648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 인증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794760" y="6126480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01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CC EAL4+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51560" y="6784848"/>
            <a:ext cx="8229600" cy="9144"/>
          </a:xfrm>
          <a:prstGeom prst="rect">
            <a:avLst/>
          </a:prstGeom>
          <a:solidFill>
            <a:srgbClr val="DCE4F1"/>
          </a:solidFill>
          <a:ln/>
        </p:spPr>
      </p:sp>
      <p:sp>
        <p:nvSpPr>
          <p:cNvPr id="20" name="Shape 18"/>
          <p:cNvSpPr/>
          <p:nvPr/>
        </p:nvSpPr>
        <p:spPr>
          <a:xfrm>
            <a:off x="9409176" y="2651760"/>
            <a:ext cx="7827264" cy="6281928"/>
          </a:xfrm>
          <a:prstGeom prst="rect">
            <a:avLst/>
          </a:prstGeom>
          <a:solidFill>
            <a:srgbClr val="0B2E6B"/>
          </a:solidFill>
          <a:ln/>
        </p:spPr>
      </p:sp>
      <p:sp>
        <p:nvSpPr>
          <p:cNvPr id="21" name="Text 19"/>
          <p:cNvSpPr/>
          <p:nvPr/>
        </p:nvSpPr>
        <p:spPr>
          <a:xfrm>
            <a:off x="9939528" y="438912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5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스마트미터 라인에 보안칩을 넣어 본 회사가 국내에 많지 않습니다.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939528" y="5669280"/>
            <a:ext cx="6236208" cy="18288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23" name="Text 21"/>
          <p:cNvSpPr/>
          <p:nvPr/>
        </p:nvSpPr>
        <p:spPr>
          <a:xfrm>
            <a:off x="9939528" y="5989320"/>
            <a:ext cx="6766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450" b="1" spc="-69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공정을 4곳에서</a:t>
            </a:r>
            <a:endParaRPr lang="en-US" sz="3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450" b="1" spc="-69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통과했습니다</a:t>
            </a:r>
            <a:endParaRPr lang="en-US" sz="3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75895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900" b="1" spc="-78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시점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16888968" y="758952"/>
            <a:ext cx="42976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50" b="1" dirty="0">
                <a:solidFill>
                  <a:srgbClr val="1E5B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950" dirty="0"/>
          </a:p>
        </p:txBody>
      </p:sp>
      <p:sp>
        <p:nvSpPr>
          <p:cNvPr id="5" name="Shape 2"/>
          <p:cNvSpPr/>
          <p:nvPr/>
        </p:nvSpPr>
        <p:spPr>
          <a:xfrm>
            <a:off x="1051560" y="2148840"/>
            <a:ext cx="16194024" cy="36576"/>
          </a:xfrm>
          <a:prstGeom prst="rect">
            <a:avLst/>
          </a:prstGeom>
          <a:solidFill>
            <a:srgbClr val="2A3550"/>
          </a:solidFill>
          <a:ln/>
        </p:spPr>
      </p:sp>
      <p:sp>
        <p:nvSpPr>
          <p:cNvPr id="6" name="Text 3"/>
          <p:cNvSpPr/>
          <p:nvPr/>
        </p:nvSpPr>
        <p:spPr>
          <a:xfrm>
            <a:off x="1051560" y="9345168"/>
            <a:ext cx="7315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989552" y="9345168"/>
            <a:ext cx="32918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51560" y="3840480"/>
            <a:ext cx="13624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b="1" spc="-273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4월 계약이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b="1" spc="-273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마지노선입니다</a:t>
            </a:r>
            <a:endParaRPr lang="en-US" sz="7800" dirty="0"/>
          </a:p>
        </p:txBody>
      </p:sp>
      <p:sp>
        <p:nvSpPr>
          <p:cNvPr id="9" name="Text 6"/>
          <p:cNvSpPr/>
          <p:nvPr/>
        </p:nvSpPr>
        <p:spPr>
          <a:xfrm>
            <a:off x="1051560" y="6492240"/>
            <a:ext cx="1275588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300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계약부터 양산까지 약 6개월이 필요합니다. 4월을 넘기면 2027년 요구사항 시행 시점에</a:t>
            </a:r>
            <a:endParaRPr lang="en-US" sz="3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300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초도 물량을 맞출 수 없습니다.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corn/Documents/GitHub/datapopcorn-datahub/public-dataset/ppt/assets/bg_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931920"/>
            <a:ext cx="182880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spc="-198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Secure by design</a:t>
            </a:r>
            <a:endParaRPr lang="en-US" sz="6600" dirty="0"/>
          </a:p>
        </p:txBody>
      </p:sp>
      <p:sp>
        <p:nvSpPr>
          <p:cNvPr id="4" name="Shape 1"/>
          <p:cNvSpPr/>
          <p:nvPr/>
        </p:nvSpPr>
        <p:spPr>
          <a:xfrm>
            <a:off x="8567928" y="5349240"/>
            <a:ext cx="1143000" cy="36576"/>
          </a:xfrm>
          <a:prstGeom prst="rect">
            <a:avLst/>
          </a:prstGeom>
          <a:solidFill>
            <a:srgbClr val="35D6E8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5806440"/>
            <a:ext cx="182880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담당  김민준 과장   010-0000-0000   minjun.kim@safechip.example.com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0" y="6355080"/>
            <a:ext cx="182880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DCE4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담당  이서연 책임   seoyeon.lee@safechip.example.com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0" y="7315200"/>
            <a:ext cx="18288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0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세이프칩   |   문서번호 SC-PRO-2026-014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458200" y="3017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6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SAFECHIP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스마트미터 보안칩 적용 제안</dc:title>
  <dc:subject>PptxGenJS Presentation</dc:subject>
  <dc:creator>DataPopcorn</dc:creator>
  <cp:lastModifiedBy>DataPopcorn</cp:lastModifiedBy>
  <cp:revision>1</cp:revision>
  <dcterms:created xsi:type="dcterms:W3CDTF">2026-07-27T18:10:38Z</dcterms:created>
  <dcterms:modified xsi:type="dcterms:W3CDTF">2026-07-27T18:10:38Z</dcterms:modified>
</cp:coreProperties>
</file>